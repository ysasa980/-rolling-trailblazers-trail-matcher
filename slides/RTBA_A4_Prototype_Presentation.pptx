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C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3C2B"/>
                </a:solidFill>
                <a:latin typeface="Arial"/>
              </a:rPr>
              <a:t>Weighted segment score (out of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Surface</c:v>
                  </c:pt>
                  <c:pt idx="1">
                    <c:v>Gradient</c:v>
                  </c:pt>
                  <c:pt idx="2">
                    <c:v>Width</c:v>
                  </c:pt>
                  <c:pt idx="3">
                    <c:v>Hazards</c:v>
                  </c:pt>
                  <c:pt idx="4">
                    <c:v>Facilities</c:v>
                  </c:pt>
                  <c:pt idx="5">
                    <c:v>Safety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rtba-poc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70408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· PROTOTYPE PRESENTATION (A4)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1792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Trailblazers Australia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Trail-to-User Matching Engine — Illawarra Proof of Concept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ARE OPTIONAL   </a:t>
            </a:r>
            <a:pPr indent="0" marL="0">
              <a:buNone/>
            </a:pPr>
            <a:r>
              <a:rPr lang="en-US" sz="1400" i="1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Wheels. Same Challenge.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38  ·  CSIT321  ·  University of Wollongong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isn't yes or no.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5564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trail marked “wheelchair accessible” can still hide loose gravel, steep pinches, or steps.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365760" cy="3657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926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RTBA scores every trail segment-by-segment, profiles every user, and matches the two — including partial access.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69664"/>
            <a:ext cx="365760" cy="3657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09651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be conservative, not optimistic. A false positive can strand a user and destroy trust in the platform.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18120" y="18288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9385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Trails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4672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in the Illawarra POC 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324612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3355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Outcomes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04672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→ Not Recommended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466344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773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Rule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46720" y="5468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first unsafe segment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 ·  Group 38  ·  CSIT321 A4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tested full-stack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0" cy="960120"/>
          </a:xfrm>
          <a:prstGeom prst="roundRect">
            <a:avLst>
              <a:gd name="adj" fmla="val 11429"/>
            </a:avLst>
          </a:prstGeom>
          <a:solidFill>
            <a:srgbClr val="E8F3EE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56232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React (Vite)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builder, trail discovery, and the Trail Details &amp; Results screen.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6583680" cy="960120"/>
          </a:xfrm>
          <a:prstGeom prst="roundRect">
            <a:avLst>
              <a:gd name="adj" fmla="val 11429"/>
            </a:avLst>
          </a:prstGeom>
          <a:solidFill>
            <a:srgbClr val="E8F3EE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99232"/>
            <a:ext cx="438912" cy="438912"/>
          </a:xfrm>
          <a:prstGeom prst="ellipse">
            <a:avLst/>
          </a:prstGeom>
          <a:solidFill>
            <a:srgbClr val="1F7C91"/>
          </a:solidFill>
          <a:ln w="12700">
            <a:solidFill>
              <a:srgbClr val="1F7C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8163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— Node.js / Express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1821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trails, profile options, and the matching engine.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6583680" cy="960120"/>
          </a:xfrm>
          <a:prstGeom prst="roundRect">
            <a:avLst>
              <a:gd name="adj" fmla="val 11429"/>
            </a:avLst>
          </a:prstGeom>
          <a:solidFill>
            <a:srgbClr val="E8F3EE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42232"/>
            <a:ext cx="438912" cy="438912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9593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— Trail + Segment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3251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segment records now; PostgreSQL schema specified for A5.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31920" y="1965960"/>
            <a:ext cx="0" cy="109728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31920" y="2606040"/>
            <a:ext cx="0" cy="109728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31920" y="3108960"/>
            <a:ext cx="0" cy="109728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31920" y="3749040"/>
            <a:ext cx="0" cy="109728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89520" y="160020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3E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8181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HOOKS (RESERVED)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1812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query interface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1812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Transport-plan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181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Community trail-condition reports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18120" y="3611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exist and return 501 Not Implemented — a stable contract for Semester 2, not a Semester 1 promise.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tests: 7 / 7 passing, including the sponsor's exact worked example.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 ·  Group 38  ·  CSIT321 A4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segment out of 100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737360"/>
            <a:ext cx="4709160" cy="1874520"/>
          </a:xfrm>
          <a:prstGeom prst="roundRect">
            <a:avLst>
              <a:gd name="adj" fmla="val 585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78040" y="190195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 conservative rather than optimistic. A false positive can strand a user, damage confidence, and destroy trust in the platform.”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78040" y="3154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Sponsor's Algorithm Design Sheet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03720" y="3794760"/>
            <a:ext cx="4709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8040" y="39776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walks a trail in order and stops at the very first segment that breaches ANY of the user's thresholds — surface, gradient, width, or score.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78040" y="49834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holds even for advanced, high-confidence profiles — the safety floor never gets switched off.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 ·  Group 38  ·  CSIT321 A4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profile. See your matches.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663440"/>
          </a:xfrm>
          <a:prstGeom prst="roundRect">
            <a:avLst>
              <a:gd name="adj" fmla="val 2745"/>
            </a:avLst>
          </a:prstGeom>
          <a:solidFill>
            <a:srgbClr val="163C2B"/>
          </a:solidFill>
          <a:ln w="12700">
            <a:solidFill>
              <a:srgbClr val="163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 — STEP 4 OF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terrain are you comfortable on?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526280" cy="502920"/>
          </a:xfrm>
          <a:prstGeom prst="roundRect">
            <a:avLst>
              <a:gd name="adj" fmla="val 18182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surfaces 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502152"/>
            <a:ext cx="4526280" cy="502920"/>
          </a:xfrm>
          <a:prstGeom prst="roundRect">
            <a:avLst>
              <a:gd name="adj" fmla="val 18182"/>
            </a:avLst>
          </a:prstGeom>
          <a:solidFill>
            <a:srgbClr val="1F5240"/>
          </a:solidFill>
          <a:ln w="12700">
            <a:solidFill>
              <a:srgbClr val="2C6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02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+ firm gravel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123944"/>
            <a:ext cx="4526280" cy="502920"/>
          </a:xfrm>
          <a:prstGeom prst="roundRect">
            <a:avLst>
              <a:gd name="adj" fmla="val 18182"/>
            </a:avLst>
          </a:prstGeom>
          <a:solidFill>
            <a:srgbClr val="1F5240"/>
          </a:solidFill>
          <a:ln w="12700">
            <a:solidFill>
              <a:srgbClr val="2C6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1239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uneven ground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745736"/>
            <a:ext cx="4526280" cy="502920"/>
          </a:xfrm>
          <a:prstGeom prst="roundRect">
            <a:avLst>
              <a:gd name="adj" fmla="val 18182"/>
            </a:avLst>
          </a:prstGeom>
          <a:solidFill>
            <a:srgbClr val="1F5240"/>
          </a:solidFill>
          <a:ln w="12700">
            <a:solidFill>
              <a:srgbClr val="2C6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7457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experienced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562356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623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— RANKED FOR YOUR PROFILE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96596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039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Wollongong Harbour to North Beach (Blue Mile)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 3.5 / 3.5 km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2112264"/>
            <a:ext cx="1828800" cy="384048"/>
          </a:xfrm>
          <a:prstGeom prst="roundRect">
            <a:avLst>
              <a:gd name="adj" fmla="val 5952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1122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2862072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9352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Tien Temple Gardens Walk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 1.2 / 1.2 km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46920" y="3008376"/>
            <a:ext cx="1828800" cy="384048"/>
          </a:xfrm>
          <a:prstGeom prst="roundRect">
            <a:avLst>
              <a:gd name="adj" fmla="val 5952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30083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758184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831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Shellharbour Coastal Walk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17920" y="4233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 1.2 / 4.0 km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46920" y="3904488"/>
            <a:ext cx="1828800" cy="384048"/>
          </a:xfrm>
          <a:prstGeom prst="roundRect">
            <a:avLst>
              <a:gd name="adj" fmla="val 59524"/>
            </a:avLst>
          </a:prstGeom>
          <a:solidFill>
            <a:srgbClr val="F0E8F2"/>
          </a:solidFill>
          <a:ln w="12700">
            <a:solidFill>
              <a:srgbClr val="F0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3904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ACCESSIBLE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4654296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727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Kiama Harbour and Blowhole Point Walk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17920" y="5129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 0.9 / 1.8 km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46920" y="4800600"/>
            <a:ext cx="1828800" cy="384048"/>
          </a:xfrm>
          <a:prstGeom prst="roundRect">
            <a:avLst>
              <a:gd name="adj" fmla="val 59524"/>
            </a:avLst>
          </a:prstGeom>
          <a:solidFill>
            <a:srgbClr val="F0E8F2"/>
          </a:solidFill>
          <a:ln w="12700">
            <a:solidFill>
              <a:srgbClr val="F0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6920" y="4800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ACCESSIBLE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5550408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5623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Illawarra Foreshore Path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17920" y="6025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 7.0 / 7.0 km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46920" y="5696712"/>
            <a:ext cx="1828800" cy="384048"/>
          </a:xfrm>
          <a:prstGeom prst="roundRect">
            <a:avLst>
              <a:gd name="adj" fmla="val 59524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46920" y="5696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 ·  Group 38  ·  CSIT321 A4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algorithm stops — and why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Minnamurra Rainforest Loop Walk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325880"/>
            <a:ext cx="3108960" cy="438912"/>
          </a:xfrm>
          <a:prstGeom prst="roundRect">
            <a:avLst>
              <a:gd name="adj" fmla="val 52083"/>
            </a:avLst>
          </a:prstGeom>
          <a:solidFill>
            <a:srgbClr val="F0E8F2"/>
          </a:solidFill>
          <a:ln w="12700">
            <a:solidFill>
              <a:srgbClr val="F0E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13258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ACCESSIBLE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04382" cy="566928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404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 — boardwalk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53022" y="1965960"/>
            <a:ext cx="4681025" cy="566928"/>
          </a:xfrm>
          <a:prstGeom prst="roundRect">
            <a:avLst/>
          </a:prstGeom>
          <a:solidFill>
            <a:srgbClr val="9A3B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3022" y="1965960"/>
            <a:ext cx="4681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1,100m — dirt / roots (STOPS HERE)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34046" y="1965960"/>
            <a:ext cx="2978834" cy="566928"/>
          </a:xfrm>
          <a:prstGeom prst="roundRect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4046" y="1965960"/>
            <a:ext cx="2978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700m — not evaluated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access for the first 800m via boardwalk. The algorithm stops at the rainforest floor track — surface, gradient, width, and overall score all breach this profile's thresholds. Return trip: 1.6km.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CAPABILITY vs. THIS SEGMENT'S DEMAND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3429000" cy="146304"/>
          </a:xfrm>
          <a:prstGeom prst="roundRect">
            <a:avLst>
              <a:gd name="adj" fmla="val 50000"/>
            </a:avLst>
          </a:prstGeom>
          <a:solidFill>
            <a:srgbClr val="DCE3E0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59352"/>
            <a:ext cx="1165860" cy="146304"/>
          </a:xfrm>
          <a:prstGeom prst="roundRect">
            <a:avLst>
              <a:gd name="adj" fmla="val 50000"/>
            </a:avLst>
          </a:prstGeom>
          <a:solidFill>
            <a:srgbClr val="9A3B3B"/>
          </a:solidFill>
          <a:ln w="12700">
            <a:solidFill>
              <a:srgbClr val="9A3B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922776"/>
            <a:ext cx="0" cy="219456"/>
          </a:xfrm>
          <a:prstGeom prst="line">
            <a:avLst/>
          </a:prstGeom>
          <a:noFill/>
          <a:ln w="19050">
            <a:solidFill>
              <a:srgbClr val="1B243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48640" y="41330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100  (need ≥ 80)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3657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(max)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959352"/>
            <a:ext cx="3429000" cy="146304"/>
          </a:xfrm>
          <a:prstGeom prst="roundRect">
            <a:avLst>
              <a:gd name="adj" fmla="val 50000"/>
            </a:avLst>
          </a:prstGeom>
          <a:solidFill>
            <a:srgbClr val="DCE3E0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959352"/>
            <a:ext cx="1543050" cy="146304"/>
          </a:xfrm>
          <a:prstGeom prst="roundRect">
            <a:avLst>
              <a:gd name="adj" fmla="val 50000"/>
            </a:avLst>
          </a:prstGeom>
          <a:solidFill>
            <a:srgbClr val="9A3B3B"/>
          </a:solidFill>
          <a:ln w="12700">
            <a:solidFill>
              <a:srgbClr val="9A3B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09210" y="3922776"/>
            <a:ext cx="0" cy="219456"/>
          </a:xfrm>
          <a:prstGeom prst="line">
            <a:avLst/>
          </a:prstGeom>
          <a:noFill/>
          <a:ln w="19050">
            <a:solidFill>
              <a:srgbClr val="1B243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251960" y="41330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 (limit 5%)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55280" y="3657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width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3959352"/>
            <a:ext cx="3429000" cy="146304"/>
          </a:xfrm>
          <a:prstGeom prst="roundRect">
            <a:avLst>
              <a:gd name="adj" fmla="val 50000"/>
            </a:avLst>
          </a:prstGeom>
          <a:solidFill>
            <a:srgbClr val="DCE3E0"/>
          </a:solidFill>
          <a:ln w="12700">
            <a:solidFill>
              <a:srgbClr val="DCE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3959352"/>
            <a:ext cx="1543050" cy="146304"/>
          </a:xfrm>
          <a:prstGeom prst="roundRect">
            <a:avLst>
              <a:gd name="adj" fmla="val 50000"/>
            </a:avLst>
          </a:prstGeom>
          <a:solidFill>
            <a:srgbClr val="9A3B3B"/>
          </a:solidFill>
          <a:ln w="12700">
            <a:solidFill>
              <a:srgbClr val="9A3B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69780" y="3922776"/>
            <a:ext cx="0" cy="219456"/>
          </a:xfrm>
          <a:prstGeom prst="line">
            <a:avLst/>
          </a:prstGeom>
          <a:noFill/>
          <a:ln w="19050">
            <a:solidFill>
              <a:srgbClr val="1B243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955280" y="41330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900mm  (need ≥ 1000mm)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0E8F2"/>
          </a:solidFill>
          <a:ln w="12700">
            <a:solidFill>
              <a:srgbClr val="F0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Trip-level notes for this profile (mobility scooter · low confidence · solo · sealed-only · max 1.5km):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 trip of 1,600m exceeds the 1,500m distance limit for this profile.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Solo + low confidence → a companion or support worker is recommended for this trail.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 ·  Group 38  ·  CSIT321 A4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didn't just design the algorithm. We tested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77640" y="182880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177393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the sponsor's exact worked example (800m accessible, 1.6km return, Partially Accessible).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77640" y="269748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64261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conservative safety floor stops even advanced, high-confidence profiles on hazardous segments.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977640" y="356616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5112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best-first ranking across all 7 trails for any given profile.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977640" y="443484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437997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trip-day modifiers (wet weather, no support person) correctly downgrade a recommendation.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 ·  Group 38  ·  CSIT321 A4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our A2 requirements, and 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REQUIREMENT PROGRESS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data model (segments)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84708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segment scoring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3317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31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98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capability profile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8163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8163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82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+ risk modifiers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30098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300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67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integration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78561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BEEDD"/>
          </a:solidFill>
          <a:ln w="12700">
            <a:solidFill>
              <a:srgbClr val="FBEE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7856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UI (WCAG)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42702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BEEDD"/>
          </a:solidFill>
          <a:ln w="12700">
            <a:solidFill>
              <a:srgbClr val="FBEE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2702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1783080"/>
            <a:ext cx="5120640" cy="4434840"/>
          </a:xfrm>
          <a:prstGeom prst="roundRect">
            <a:avLst>
              <a:gd name="adj" fmla="val 2887"/>
            </a:avLst>
          </a:prstGeom>
          <a:solidFill>
            <a:srgbClr val="163C2B"/>
          </a:solidFill>
          <a:ln w="12700">
            <a:solidFill>
              <a:srgbClr val="163C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TOWARD A5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23317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data layer to PostgreSQL per the A2 schema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3108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geographic map (Leaflet) with facilities overlay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3886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3886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trail-condition reporting (the “trail degradation” problem)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4663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4663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Sponsor-reviewed field data for all 7 trails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5440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54406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+ community landing experience (per sponsor's A3 feedback)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 ·  Group 38  ·  CSIT321 A4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0515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rtba-poc/slid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Trailblazers Australia — Different Wheels. Same Challenge.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38  ·  CSIT321  ·  University of Wollongong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2026-08-04T09:43:07Z</dcterms:created>
  <dcterms:modified xsi:type="dcterms:W3CDTF">2026-08-04T09:43:07Z</dcterms:modified>
</cp:coreProperties>
</file>